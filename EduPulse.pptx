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lbert Sans"/>
      <p:regular r:id="rId201314"/>
    </p:embeddedFont>
    <p:embeddedFont>
      <p:font typeface="Albert Sans Bold"/>
      <p:regular r:id="rId201315"/>
    </p:embeddedFont>
    <p:embeddedFont>
      <p:font typeface="Barlow Bold"/>
      <p:regular r:id="rId201316"/>
    </p:embeddedFont>
    <p:embeddedFont>
      <p:font typeface="Savate"/>
      <p:regular r:id="rId201317"/>
    </p:embeddedFont>
    <p:embeddedFont>
      <p:font typeface="Savat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FED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FED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394B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3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03081" cy="6858000"/>
          </a:xfrm>
          <a:prstGeom prst="rect">
            <a:avLst/>
          </a:prstGeom>
          <a:solidFill>
            <a:srgbClr val="1F2B4A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1191816"/>
            <a:ext cx="6037905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EduPulse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482588" y="2488406"/>
            <a:ext cx="60379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0"/>
              </a:rPr>
              <a:t>Student Dropout Prediction and Academic Success Analysis Using Machine Learning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82588" y="3263106"/>
            <a:ext cx="6037905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Presented by: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2588" y="4734719"/>
            <a:ext cx="6037905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PUJITHA (URK24CS6006)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SWETHA (URK24CS6005)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02712" cy="6858000"/>
          </a:xfrm>
          <a:prstGeom prst="rect">
            <a:avLst/>
          </a:prstGeom>
          <a:solidFill>
            <a:srgbClr val="394B71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2868612"/>
            <a:ext cx="359153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Problem Statement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115392" y="2279253"/>
            <a:ext cx="6720712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Educational institutions collect large amounts of student data.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Analyzing this data manually can be difficult and time-consuming.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Students may experience academic difficulties that require early attention.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 data-driven approach can help identify patterns in student outcomes.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15392" y="3636566"/>
            <a:ext cx="6720712" cy="942181"/>
          </a:xfrm>
          <a:prstGeom prst="roundRect">
            <a:avLst>
              <a:gd name="adj" fmla="val 16984"/>
            </a:avLst>
          </a:prstGeom>
          <a:solidFill>
            <a:srgbClr val="FBD0F6"/>
          </a:solidFill>
          <a:ln/>
        </p:spPr>
      </p:sp>
      <p:sp>
        <p:nvSpPr>
          <p:cNvPr id="6" name="Text 4"/>
          <p:cNvSpPr/>
          <p:nvPr/>
        </p:nvSpPr>
        <p:spPr>
          <a:xfrm>
            <a:off x="5293188" y="3858816"/>
            <a:ext cx="63651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Goal: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Use data analysis and machine learning to study academic success and potential dropout risks.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11502" cy="6858000"/>
          </a:xfrm>
          <a:prstGeom prst="rect">
            <a:avLst/>
          </a:prstGeom>
          <a:solidFill>
            <a:srgbClr val="98CDFF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2868612"/>
            <a:ext cx="320032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Project Objectives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4368691" y="0"/>
            <a:ext cx="7823004" cy="1249660"/>
          </a:xfrm>
          <a:prstGeom prst="rect">
            <a:avLst/>
          </a:prstGeom>
          <a:solidFill>
            <a:srgbClr val="394B7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275" y="609560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00560" y="609600"/>
            <a:ext cx="659113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Analyze student academic and demographic data.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68691" y="1402060"/>
            <a:ext cx="7823004" cy="1249660"/>
          </a:xfrm>
          <a:prstGeom prst="rect">
            <a:avLst/>
          </a:prstGeom>
          <a:solidFill>
            <a:srgbClr val="394B7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275" y="2011620"/>
            <a:ext cx="444489" cy="444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00560" y="2011660"/>
            <a:ext cx="659113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Understand patterns related to student outcomes.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368691" y="2804120"/>
            <a:ext cx="7823004" cy="1249660"/>
          </a:xfrm>
          <a:prstGeom prst="rect">
            <a:avLst/>
          </a:prstGeom>
          <a:solidFill>
            <a:srgbClr val="394B7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275" y="3413681"/>
            <a:ext cx="444489" cy="444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00560" y="3413720"/>
            <a:ext cx="659113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Explore machine learning for predicting academic outcomes.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368691" y="4206180"/>
            <a:ext cx="7823004" cy="1249660"/>
          </a:xfrm>
          <a:prstGeom prst="rect">
            <a:avLst/>
          </a:prstGeom>
          <a:solidFill>
            <a:srgbClr val="394B7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275" y="4815741"/>
            <a:ext cx="444489" cy="444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00560" y="4815780"/>
            <a:ext cx="659113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Present insights through charts and a user-friendly website.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368691" y="5608241"/>
            <a:ext cx="7823004" cy="1249759"/>
          </a:xfrm>
          <a:prstGeom prst="rect">
            <a:avLst/>
          </a:prstGeom>
          <a:solidFill>
            <a:srgbClr val="394B7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275" y="6217801"/>
            <a:ext cx="444489" cy="444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600560" y="6217841"/>
            <a:ext cx="659113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Support teachers and counsellors in making informed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80825"/>
            <a:ext cx="4648084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394B71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Dataset Overview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3106241"/>
            <a:ext cx="4648084" cy="2218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Dataset: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Predict Students' Dropout and Academic Success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Source: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UCI Machine Learning Repository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Data includes: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Student background, admission details, academic performance, and other related factors.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i="1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Visual suggestion: Add a pie chart or bar chart showing the three student outcomes.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1133475"/>
            <a:ext cx="4648084" cy="418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34027" y="5475585"/>
            <a:ext cx="525766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Total records: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4,424 students ·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Features: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36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012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394B71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Proposed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34380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Our project follows these steps: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75371"/>
            <a:ext cx="3538945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7380" y="2886571"/>
            <a:ext cx="318335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353535"/>
                </a:solidFill>
                <a:latin typeface="Savate Bold" pitchFamily="34" charset="0"/>
                <a:ea typeface="Savate Bold" pitchFamily="34" charset="-122"/>
                <a:cs typeface="Savate Bold" pitchFamily="34" charset="0"/>
              </a:rPr>
              <a:t>Data Collection: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87380" y="3230662"/>
            <a:ext cx="318335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Obtain the student dataset.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325" y="1908671"/>
            <a:ext cx="3538945" cy="1428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04121" y="2619871"/>
            <a:ext cx="318335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353535"/>
                </a:solidFill>
                <a:latin typeface="Savate Bold" pitchFamily="34" charset="0"/>
                <a:ea typeface="Savate Bold" pitchFamily="34" charset="-122"/>
                <a:cs typeface="Savate Bold" pitchFamily="34" charset="0"/>
              </a:rPr>
              <a:t>Data Preprocessing: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04121" y="2963962"/>
            <a:ext cx="318335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Check and prepare the data.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066" y="1641971"/>
            <a:ext cx="3539044" cy="1428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0862" y="2353171"/>
            <a:ext cx="31834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353535"/>
                </a:solidFill>
                <a:latin typeface="Savate Bold" pitchFamily="34" charset="0"/>
                <a:ea typeface="Savate Bold" pitchFamily="34" charset="-122"/>
                <a:cs typeface="Savate Bold" pitchFamily="34" charset="0"/>
              </a:rPr>
              <a:t>Exploratory Data Analysis: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220862" y="2697262"/>
            <a:ext cx="31834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Identify patterns using charts and statistics.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368502"/>
            <a:ext cx="3538945" cy="1428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7380" y="5079702"/>
            <a:ext cx="318335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353535"/>
                </a:solidFill>
                <a:latin typeface="Savate Bold" pitchFamily="34" charset="0"/>
                <a:ea typeface="Savate Bold" pitchFamily="34" charset="-122"/>
                <a:cs typeface="Savate Bold" pitchFamily="34" charset="0"/>
              </a:rPr>
              <a:t>Model Development: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87380" y="5423793"/>
            <a:ext cx="318335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Train machine learning models.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325" y="4101802"/>
            <a:ext cx="3538945" cy="1428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04121" y="4813002"/>
            <a:ext cx="318335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353535"/>
                </a:solidFill>
                <a:latin typeface="Savate Bold" pitchFamily="34" charset="0"/>
                <a:ea typeface="Savate Bold" pitchFamily="34" charset="-122"/>
                <a:cs typeface="Savate Bold" pitchFamily="34" charset="0"/>
              </a:rPr>
              <a:t>Model Evaluation: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4504121" y="5157093"/>
            <a:ext cx="318335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Measure predictive performance.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066" y="3835102"/>
            <a:ext cx="3539044" cy="14287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20862" y="4546302"/>
            <a:ext cx="31834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353535"/>
                </a:solidFill>
                <a:latin typeface="Savate Bold" pitchFamily="34" charset="0"/>
                <a:ea typeface="Savate Bold" pitchFamily="34" charset="-122"/>
                <a:cs typeface="Savate Bold" pitchFamily="34" charset="0"/>
              </a:rPr>
              <a:t>Visualization: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8220862" y="4890393"/>
            <a:ext cx="31834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Display useful insights through the EduPulse website.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609585" y="6009184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i="1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Visual suggestion: Show these steps as a simple horizontal flowchart.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93822" cy="6858000"/>
          </a:xfrm>
          <a:prstGeom prst="rect">
            <a:avLst/>
          </a:prstGeom>
          <a:solidFill>
            <a:srgbClr val="A54476"/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1760736"/>
            <a:ext cx="4084238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Machine Learning Algorithms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304792" y="3768923"/>
            <a:ext cx="4084238" cy="140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The following algorithms can be explored for predicting student outcomes: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Note: Present these as proposed algorithms unless you have actually trained and evaluated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50912" y="0"/>
            <a:ext cx="2143667" cy="3276600"/>
          </a:xfrm>
          <a:prstGeom prst="rect">
            <a:avLst/>
          </a:prstGeom>
          <a:solidFill>
            <a:srgbClr val="E2E0DD"/>
          </a:solidFill>
          <a:ln w="19050">
            <a:solidFill>
              <a:srgbClr val="CBC5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47757" y="942595"/>
            <a:ext cx="174997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353535"/>
                </a:solidFill>
                <a:latin typeface="Savate Bold" pitchFamily="34" charset="0"/>
                <a:ea typeface="Savate Bold" pitchFamily="34" charset="-122"/>
                <a:cs typeface="Savate Bold" pitchFamily="34" charset="0"/>
              </a:rPr>
              <a:t>1. Logistic Regression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47757" y="1607939"/>
            <a:ext cx="174997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 classification algorithm used to predict categories.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99371" y="0"/>
            <a:ext cx="2143766" cy="3276600"/>
          </a:xfrm>
          <a:prstGeom prst="rect">
            <a:avLst/>
          </a:prstGeom>
          <a:solidFill>
            <a:srgbClr val="98CDFF"/>
          </a:solidFill>
          <a:ln w="19050">
            <a:solidFill>
              <a:srgbClr val="CBC5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6216" y="942595"/>
            <a:ext cx="17500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avate Bold" pitchFamily="34" charset="0"/>
                <a:ea typeface="Savate Bold" pitchFamily="34" charset="-122"/>
                <a:cs typeface="Savate Bold" pitchFamily="34" charset="0"/>
              </a:rPr>
              <a:t>2. Decision Tree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96216" y="1607939"/>
            <a:ext cx="1750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Uses decision rules to classify student outcomes.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47929" y="0"/>
            <a:ext cx="2143667" cy="3276600"/>
          </a:xfrm>
          <a:prstGeom prst="rect">
            <a:avLst/>
          </a:prstGeom>
          <a:solidFill>
            <a:srgbClr val="F68EEA"/>
          </a:solidFill>
          <a:ln w="19050">
            <a:solidFill>
              <a:srgbClr val="CBC5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4774" y="942595"/>
            <a:ext cx="174997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avate Bold" pitchFamily="34" charset="0"/>
                <a:ea typeface="Savate Bold" pitchFamily="34" charset="-122"/>
                <a:cs typeface="Savate Bold" pitchFamily="34" charset="0"/>
              </a:rPr>
              <a:t>3. Random Forest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244774" y="1607939"/>
            <a:ext cx="174997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Combines multiple decision trees to make predictions.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50912" y="3581400"/>
            <a:ext cx="7040684" cy="3276600"/>
          </a:xfrm>
          <a:prstGeom prst="rect">
            <a:avLst/>
          </a:prstGeom>
          <a:solidFill>
            <a:srgbClr val="394B71"/>
          </a:solidFill>
          <a:ln w="19050">
            <a:solidFill>
              <a:srgbClr val="CBC5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7757" y="4891484"/>
            <a:ext cx="684383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Evaluation Metrics: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7757" y="5299075"/>
            <a:ext cx="154737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Accuracy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7530" y="5299075"/>
            <a:ext cx="154747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Precision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47402" y="5299075"/>
            <a:ext cx="154747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Recall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447275" y="5299075"/>
            <a:ext cx="154747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F1-score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63696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394B71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Technologies Used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186481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i="1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Visual suggestion: Use technology logos or simple icons.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72407"/>
          <a:ext cx="10972526" cy="914400"/>
        </p:xfrm>
        <a:graphic>
          <a:graphicData uri="http://schemas.openxmlformats.org/drawingml/2006/table">
            <a:tbl>
              <a:tblPr/>
              <a:tblGrid>
                <a:gridCol w="2646991"/>
                <a:gridCol w="7792049"/>
                <a:gridCol w="266693"/>
                <a:gridCol w="26679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94B71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Technology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94B71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Purpose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Python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Data processing and machine learning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Pandas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Dataset handling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NumPy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Numerical operations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Matplotlib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Data visualization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Seaborn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Statistical charts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Scikit-learn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Machine learning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HTML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Website structure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CSS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53535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0"/>
                        </a:rPr>
                        <a:t>Website styling</a:t>
                      </a: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02712" cy="6858000"/>
          </a:xfrm>
          <a:prstGeom prst="rect">
            <a:avLst/>
          </a:prstGeom>
          <a:solidFill>
            <a:srgbClr val="394B71"/>
          </a:solidFill>
          <a:ln/>
        </p:spPr>
      </p:sp>
      <p:sp>
        <p:nvSpPr>
          <p:cNvPr id="3" name="Text 1"/>
          <p:cNvSpPr/>
          <p:nvPr/>
        </p:nvSpPr>
        <p:spPr>
          <a:xfrm>
            <a:off x="330192" y="1885156"/>
            <a:ext cx="3642328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EduPulse Website Features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330192" y="3893344"/>
            <a:ext cx="3642328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EduPulse aims to make student data easier to understand through a simple interface.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Add screenshots of your actual website to make this slide more convincing.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69386" y="609600"/>
            <a:ext cx="682230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Main Sections: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9386" y="1017151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02773" y="1017191"/>
            <a:ext cx="567933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Dashboard: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Overview of student outcomes.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386" y="1914386"/>
            <a:ext cx="355591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02773" y="1914426"/>
            <a:ext cx="567933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Data Analysis: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Explore patterns in student data.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386" y="2811621"/>
            <a:ext cx="355591" cy="355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02773" y="2811661"/>
            <a:ext cx="567933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Student Outcomes: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View Graduate, Dropout, and Enrolled categories.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386" y="3708857"/>
            <a:ext cx="355591" cy="355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902773" y="3708896"/>
            <a:ext cx="567933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Student Records: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Display student information.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386" y="4606092"/>
            <a:ext cx="355591" cy="355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902773" y="4606131"/>
            <a:ext cx="567933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Risk Assessment: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Explore potential risk indicators.</a:t>
            </a:r>
            <a:endParaRPr lang="en-US" sz="1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9386" y="5503426"/>
            <a:ext cx="355591" cy="355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902773" y="5503466"/>
            <a:ext cx="567933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53535"/>
                </a:solidFill>
                <a:latin typeface="Albert Sans Bold" pitchFamily="34" charset="0"/>
                <a:ea typeface="Albert Sans Bold" pitchFamily="34" charset="-122"/>
                <a:cs typeface="Albert Sans Bold" pitchFamily="34" charset="0"/>
              </a:rPr>
              <a:t>About EduPulse: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5353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 Project information.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60703" cy="6858000"/>
          </a:xfrm>
          <a:prstGeom prst="rect">
            <a:avLst/>
          </a:prstGeom>
          <a:solidFill>
            <a:srgbClr val="98CDFF"/>
          </a:solidFill>
          <a:ln/>
        </p:spPr>
      </p:sp>
      <p:sp>
        <p:nvSpPr>
          <p:cNvPr id="3" name="Text 1"/>
          <p:cNvSpPr/>
          <p:nvPr/>
        </p:nvSpPr>
        <p:spPr>
          <a:xfrm>
            <a:off x="279393" y="790547"/>
            <a:ext cx="3301917" cy="268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Benefits, Limitations and Future Scope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9393" y="3604634"/>
            <a:ext cx="330191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Benefits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9393" y="3990578"/>
            <a:ext cx="3301917" cy="212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Helps visualize student outcome patterns.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Makes student data easier to explore.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May support early identification of students who need assistance.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Can help teachers and counsellors make informed decisions.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65496" y="0"/>
            <a:ext cx="3860703" cy="6858000"/>
          </a:xfrm>
          <a:prstGeom prst="rect">
            <a:avLst/>
          </a:prstGeom>
          <a:solidFill>
            <a:srgbClr val="F68EEA"/>
          </a:solidFill>
          <a:ln/>
        </p:spPr>
      </p:sp>
      <p:sp>
        <p:nvSpPr>
          <p:cNvPr id="7" name="Text 5"/>
          <p:cNvSpPr/>
          <p:nvPr/>
        </p:nvSpPr>
        <p:spPr>
          <a:xfrm>
            <a:off x="4444889" y="2455284"/>
            <a:ext cx="330191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44889" y="2841228"/>
            <a:ext cx="3301917" cy="158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Predictions depend on data quality.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Model performance must be tested before practical use.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Predictions may be incorrect and should not be treated as final decisions.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30992" y="0"/>
            <a:ext cx="3860703" cy="6858000"/>
          </a:xfrm>
          <a:prstGeom prst="rect">
            <a:avLst/>
          </a:prstGeom>
          <a:solidFill>
            <a:srgbClr val="417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10385" y="2433059"/>
            <a:ext cx="330191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Future Scope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10385" y="2819003"/>
            <a:ext cx="3301917" cy="1626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Integrate a trained machine learning model.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Add updated student data.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Improve risk assessment.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Provide personalized academic support recommendations.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1893887"/>
            <a:ext cx="6329601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Conclusion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355591" y="2903538"/>
            <a:ext cx="6329601" cy="216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EduPulse focuses on student dropout prediction and academic success analysis.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It uses student data to explore meaningful patterns.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Machine learning can help estimate student outcomes when properly trained and evaluated.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Visualizations can make the results easier to understand.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The project aims to support educational decision-making and student assistance.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97873" y="0"/>
            <a:ext cx="4693822" cy="6858000"/>
          </a:xfrm>
          <a:prstGeom prst="rect">
            <a:avLst/>
          </a:prstGeom>
          <a:solidFill>
            <a:srgbClr val="F68EEA"/>
          </a:solidFill>
          <a:ln/>
        </p:spPr>
      </p:sp>
      <p:sp>
        <p:nvSpPr>
          <p:cNvPr id="5" name="Text 3"/>
          <p:cNvSpPr/>
          <p:nvPr/>
        </p:nvSpPr>
        <p:spPr>
          <a:xfrm>
            <a:off x="7853464" y="3022660"/>
            <a:ext cx="398264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Savate" pitchFamily="34" charset="0"/>
                <a:ea typeface="Savate" pitchFamily="34" charset="-122"/>
                <a:cs typeface="Savate" pitchFamily="34" charset="0"/>
              </a:rPr>
              <a:t>Thank You!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2026-10-27T09:16:39Z</dcterms:created>
  <dcterms:modified xsi:type="dcterms:W3CDTF">2026-10-27T09:16:39Z</dcterms:modified>
</cp:coreProperties>
</file>